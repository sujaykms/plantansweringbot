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6" r:id="rId2"/>
    <p:sldId id="27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86"/>
    <p:restoredTop sz="94654"/>
  </p:normalViewPr>
  <p:slideViewPr>
    <p:cSldViewPr snapToGrid="0">
      <p:cViewPr varScale="1">
        <p:scale>
          <a:sx n="104" d="100"/>
          <a:sy n="104" d="100"/>
        </p:scale>
        <p:origin x="20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3A32-0C0D-95E5-741A-0D884142C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6D3513-B16A-FBEA-0DB9-743B27BDF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7CEA5-B55C-11F6-7474-CFC2BE7EB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6F8C-B21E-1742-B33B-692BEB268CC7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50E46-11D0-9B44-C462-0F1987F3C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8AC4A-03DA-DF10-A3DF-BBC9F133E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BA5B-615E-B242-AA1E-C36621756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4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7827D-1E13-D2C1-8D20-184A2411D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8DBFD-EE97-68AA-373D-2BB5A1C87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B9376-D380-9B1F-5355-0FB99552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6F8C-B21E-1742-B33B-692BEB268CC7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ED5BA-4296-EBE2-1528-62CC9BD55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A1790-8D24-C911-58FE-B5B740C6E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BA5B-615E-B242-AA1E-C36621756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1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98A17-3CCB-D98A-9F7E-54EA11CB4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2F39F-D124-87FE-D2E0-70AFCEE2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AE79-D466-63FF-B6C2-7D33180F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6F8C-B21E-1742-B33B-692BEB268CC7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DA89-63D5-0F93-AD80-0F0409E7C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02C84-A100-2722-3917-5C920232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BA5B-615E-B242-AA1E-C36621756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09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DFFE-7B53-6D65-8D5B-48AC84C28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AA56D-0039-F028-6A06-7D11C9C05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32040-DEDF-FAB8-E755-BBCBBF72E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BF7CD-6DD2-266F-460D-1ED4F513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6F8C-B21E-1742-B33B-692BEB268CC7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AF920-7883-529D-7301-41DD5AB8F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1B1A9-F38F-705B-2B9B-B57196D6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BA5B-615E-B242-AA1E-C36621756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7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2C69-4D21-F9D8-A88B-60DEDA5B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60B04-21B0-43F8-C71D-A02A2CECE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A297A-DF02-1D4F-85A3-584247ABC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60F67-BB01-D9C4-CA14-A0DB5AF9A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B2A3D-19EF-3BF3-4534-D135028C5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127A6-FC9F-668E-0C88-5C8B5F5E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6F8C-B21E-1742-B33B-692BEB268CC7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2524B-59AD-A28F-83D7-5F3B4EB89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ACAEC4-0C9A-DA6E-4C5E-831A6AB94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BA5B-615E-B242-AA1E-C36621756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3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3482E-DF0A-FB5E-345F-26A02FC1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6F888D-D332-1C3F-5A6D-AF6E607C4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6F8C-B21E-1742-B33B-692BEB268CC7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B565B-E893-C29D-A931-8FECB6082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784CD-1291-E926-EAD6-35C7417E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BA5B-615E-B242-AA1E-C36621756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526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4AFF4-8DFB-5DBA-8B45-ADF8BC69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6F8C-B21E-1742-B33B-692BEB268CC7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C013F-FEC2-F7EA-E2B6-21A91F24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E0CF5-5785-5E93-A9AD-59C7A5831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BA5B-615E-B242-AA1E-C36621756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51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36953-B015-107D-427B-5B0D63E5A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B67BF-B0AE-5E4C-607F-8D2F6816B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C5A48-AD6C-3905-46BB-9553A769E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31369-21AF-E6AF-297B-2CB6772EA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6F8C-B21E-1742-B33B-692BEB268CC7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478E2-5600-63FB-A34E-FBD197607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1455D-A60A-0639-29EF-A928C6EB3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BA5B-615E-B242-AA1E-C36621756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26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38BB4-11FD-71D2-EF62-F637CF7F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E15387-1A0B-4419-DF24-8127F2D82E4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AB823-5535-9984-795B-A7855FB55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FBCF3-50AE-DC7C-5089-2EFF195FE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6F8C-B21E-1742-B33B-692BEB268CC7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DF7B5-1CA9-F26A-C6DE-97C482A1C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FE50E-54A1-7DAE-D73C-7648C142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BA5B-615E-B242-AA1E-C36621756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82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0C0F-BDFE-185B-6141-EC81C3830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6EEEC9-55AA-13C3-51B1-7E92CE047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7A37E-EF7A-3C4F-EFE4-BB4020527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6F8C-B21E-1742-B33B-692BEB268CC7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5FA45-E91D-9E91-1B91-375E210F4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031FA-7A01-DD3F-A8CC-D4DC88964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BA5B-615E-B242-AA1E-C36621756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7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7EDE07-93FD-9FBF-72AD-883CCF70C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0C8BEC-8A4F-DD7E-9348-5B1F9E382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F5C9B-E3B1-A370-27B3-57DE44D1B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6F8C-B21E-1742-B33B-692BEB268CC7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4F07B-0E6C-B532-6D6E-D1C91DBCC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814B0-9CD2-88F5-924F-B3134421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BA5B-615E-B242-AA1E-C36621756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28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263967-FE78-D212-5EE4-525052872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51E43-2211-15C3-4F96-DF65E9D03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F4A38-4199-97AF-D03F-C67A1CC83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96F8C-B21E-1742-B33B-692BEB268CC7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32368-8A6A-0B88-D202-21ACAA101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72269-6D4F-E2B7-2F5E-F7ED81A30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DBA5B-615E-B242-AA1E-C36621756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2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A197F-C33C-E9E2-2DA5-EBBE3D149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489200"/>
            <a:ext cx="7620000" cy="1219200"/>
          </a:xfrm>
        </p:spPr>
        <p:txBody>
          <a:bodyPr lIns="0" anchor="b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6400" b="1" dirty="0">
                <a:solidFill>
                  <a:srgbClr val="FFFFFF"/>
                </a:solidFill>
              </a:rPr>
              <a:t>PlantBrain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5915D-8503-58E3-EF71-A093AB477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35400"/>
            <a:ext cx="7620000" cy="1143000"/>
          </a:xfrm>
        </p:spPr>
        <p:txBody>
          <a:bodyPr l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400" b="0" dirty="0">
                <a:solidFill>
                  <a:srgbClr val="F2B25C"/>
                </a:solidFill>
              </a:rPr>
              <a:t>AI-powered plant knowledge agent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1800" b="0" dirty="0">
                <a:solidFill>
                  <a:srgbClr val="CBD2D9"/>
                </a:solidFill>
              </a:rPr>
              <a:t>Fast, source-backed answers on safety, maintenance and quality</a:t>
            </a:r>
          </a:p>
        </p:txBody>
      </p:sp>
      <p:sp>
        <p:nvSpPr>
          <p:cNvPr id="10" name="Accent bar"/>
          <p:cNvSpPr/>
          <p:nvPr/>
        </p:nvSpPr>
        <p:spPr>
          <a:xfrm>
            <a:off x="762000" y="2286000"/>
            <a:ext cx="812800" cy="76200"/>
          </a:xfrm>
          <a:prstGeom prst="rect">
            <a:avLst/>
          </a:prstGeom>
          <a:solidFill>
            <a:srgbClr val="D9622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Footer"/>
          <p:cNvSpPr txBox="1"/>
          <p:nvPr/>
        </p:nvSpPr>
        <p:spPr>
          <a:xfrm>
            <a:off x="762000" y="5969000"/>
            <a:ext cx="7620000" cy="304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9AA5B1"/>
                </a:solidFill>
              </a:rPr>
              <a:t>Leadership briefing  ·  Pilot proposal</a:t>
            </a:r>
          </a:p>
        </p:txBody>
      </p:sp>
      <p:pic>
        <p:nvPicPr>
          <p:cNvPr id="12" name="Graphic 12" descr="PlantBra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0" y="1905000"/>
            <a:ext cx="2794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75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2744-5225-4C0E-1F93-8096F893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584200"/>
          </a:xfrm>
        </p:spPr>
        <p:txBody>
          <a:bodyPr wrap="square" anchor="b">
            <a:normAutofit/>
          </a:bodyPr>
          <a:lstStyle/>
          <a:p>
            <a:r>
              <a:rPr lang="en-US" sz="2800" b="1" dirty="0">
                <a:solidFill>
                  <a:srgbClr val="1F2933"/>
                </a:solidFill>
              </a:rPr>
              <a:t>Floor Supervisors get answers in 90 seconds, not 15 minutes</a:t>
            </a:r>
          </a:p>
        </p:txBody>
      </p:sp>
      <p:sp>
        <p:nvSpPr>
          <p:cNvPr id="10" name="Shape 10"/>
          <p:cNvSpPr/>
          <p:nvPr/>
        </p:nvSpPr>
        <p:spPr>
          <a:xfrm>
            <a:off x="508000" y="914400"/>
            <a:ext cx="1117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500" dirty="0">
                <a:solidFill>
                  <a:srgbClr val="5B6670"/>
                </a:solidFill>
              </a:rPr>
              <a:t>Proposal: pilot one plain-language source of approved plant knowledge for floor supervisors</a:t>
            </a:r>
          </a:p>
        </p:txBody>
      </p:sp>
      <p:sp>
        <p:nvSpPr>
          <p:cNvPr id="11" name="Shape 11"/>
          <p:cNvSpPr/>
          <p:nvPr/>
        </p:nvSpPr>
        <p:spPr>
          <a:xfrm>
            <a:off x="508000" y="14224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400" b="1" spc="50" dirty="0">
                <a:solidFill>
                  <a:srgbClr val="1F2933"/>
                </a:solidFill>
              </a:rPr>
              <a:t>TODAY</a:t>
            </a:r>
            <a:r>
              <a:rPr lang="en-US" sz="1400" dirty="0">
                <a:solidFill>
                  <a:srgbClr val="5B6670"/>
                </a:solidFill>
              </a:rPr>
              <a:t>  10–15 min per manual search</a:t>
            </a:r>
          </a:p>
        </p:txBody>
      </p:sp>
      <p:sp>
        <p:nvSpPr>
          <p:cNvPr id="12" name="Shape 12"/>
          <p:cNvSpPr/>
          <p:nvPr/>
        </p:nvSpPr>
        <p:spPr>
          <a:xfrm>
            <a:off x="4699000" y="14224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400" b="1" spc="50" dirty="0">
                <a:solidFill>
                  <a:srgbClr val="1F2933"/>
                </a:solidFill>
              </a:rPr>
              <a:t>PROPOSED</a:t>
            </a:r>
            <a:r>
              <a:rPr lang="en-US" sz="1400" dirty="0">
                <a:solidFill>
                  <a:srgbClr val="5B6670"/>
                </a:solidFill>
              </a:rPr>
              <a:t>  one assistant</a:t>
            </a:r>
          </a:p>
        </p:txBody>
      </p:sp>
      <p:sp>
        <p:nvSpPr>
          <p:cNvPr id="13" name="Shape 13"/>
          <p:cNvSpPr/>
          <p:nvPr/>
        </p:nvSpPr>
        <p:spPr>
          <a:xfrm>
            <a:off x="8255000" y="14224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400" b="1" spc="50" dirty="0">
                <a:solidFill>
                  <a:srgbClr val="1F2933"/>
                </a:solidFill>
              </a:rPr>
              <a:t>RESULT</a:t>
            </a:r>
            <a:r>
              <a:rPr lang="en-US" sz="1400" dirty="0">
                <a:solidFill>
                  <a:srgbClr val="5B6670"/>
                </a:solidFill>
              </a:rPr>
              <a:t>  fast, cited answers</a:t>
            </a:r>
          </a:p>
        </p:txBody>
      </p:sp>
      <p:sp>
        <p:nvSpPr>
          <p:cNvPr id="14" name="Shape 14"/>
          <p:cNvSpPr/>
          <p:nvPr/>
        </p:nvSpPr>
        <p:spPr>
          <a:xfrm>
            <a:off x="508000" y="1778000"/>
            <a:ext cx="3429000" cy="78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1219200" y="1778000"/>
            <a:ext cx="2616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1F2933"/>
                </a:solidFill>
              </a:rPr>
              <a:t>Safety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buNone/>
            </a:pPr>
            <a:r>
              <a:rPr lang="en-US" sz="1400" dirty="0">
                <a:solidFill>
                  <a:srgbClr val="5B6670"/>
                </a:solidFill>
              </a:rPr>
              <a:t>PPE, emergencies, permits</a:t>
            </a:r>
          </a:p>
        </p:txBody>
      </p:sp>
      <p:sp>
        <p:nvSpPr>
          <p:cNvPr id="16" name="Shape 16"/>
          <p:cNvSpPr/>
          <p:nvPr/>
        </p:nvSpPr>
        <p:spPr>
          <a:xfrm>
            <a:off x="508000" y="2692400"/>
            <a:ext cx="3429000" cy="78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17" name="Shape 17"/>
          <p:cNvSpPr/>
          <p:nvPr/>
        </p:nvSpPr>
        <p:spPr>
          <a:xfrm>
            <a:off x="1219200" y="2692400"/>
            <a:ext cx="2616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1F2933"/>
                </a:solidFill>
              </a:rPr>
              <a:t>Maintenance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buNone/>
            </a:pPr>
            <a:r>
              <a:rPr lang="en-US" sz="1400" dirty="0">
                <a:solidFill>
                  <a:srgbClr val="5B6670"/>
                </a:solidFill>
              </a:rPr>
              <a:t>Faults, torque, PM plans</a:t>
            </a:r>
          </a:p>
        </p:txBody>
      </p:sp>
      <p:sp>
        <p:nvSpPr>
          <p:cNvPr id="18" name="Shape 18"/>
          <p:cNvSpPr/>
          <p:nvPr/>
        </p:nvSpPr>
        <p:spPr>
          <a:xfrm>
            <a:off x="508000" y="3606800"/>
            <a:ext cx="3429000" cy="78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1219200" y="3606800"/>
            <a:ext cx="26162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1F2933"/>
                </a:solidFill>
              </a:rPr>
              <a:t>Quality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buNone/>
            </a:pPr>
            <a:r>
              <a:rPr lang="en-US" sz="1400" dirty="0">
                <a:solidFill>
                  <a:srgbClr val="5B6670"/>
                </a:solidFill>
              </a:rPr>
              <a:t>Tolerances, defects, SPC</a:t>
            </a:r>
          </a:p>
        </p:txBody>
      </p:sp>
      <p:sp>
        <p:nvSpPr>
          <p:cNvPr id="20" name="Shape 20"/>
          <p:cNvSpPr/>
          <p:nvPr/>
        </p:nvSpPr>
        <p:spPr>
          <a:xfrm>
            <a:off x="4038600" y="2870200"/>
            <a:ext cx="558800" cy="431800"/>
          </a:xfrm>
          <a:prstGeom prst="rightArrow">
            <a:avLst/>
          </a:prstGeom>
          <a:solidFill>
            <a:srgbClr val="D9622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21" name="Shape 21"/>
          <p:cNvSpPr/>
          <p:nvPr/>
        </p:nvSpPr>
        <p:spPr>
          <a:xfrm>
            <a:off x="7594600" y="2870200"/>
            <a:ext cx="558800" cy="431800"/>
          </a:xfrm>
          <a:prstGeom prst="rightArrow">
            <a:avLst/>
          </a:prstGeom>
          <a:solidFill>
            <a:srgbClr val="D9622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22" name="Shape 22"/>
          <p:cNvSpPr/>
          <p:nvPr/>
        </p:nvSpPr>
        <p:spPr>
          <a:xfrm>
            <a:off x="4699000" y="1778000"/>
            <a:ext cx="2794000" cy="261620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23" name="Shape 23"/>
          <p:cNvSpPr/>
          <p:nvPr/>
        </p:nvSpPr>
        <p:spPr>
          <a:xfrm>
            <a:off x="4876800" y="2260600"/>
            <a:ext cx="24384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FFFF"/>
                </a:solidFill>
              </a:rPr>
              <a:t>PlantBrain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FFFFFF"/>
                </a:solidFill>
              </a:rPr>
              <a:t>Ask in plain language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CBD2D9"/>
                </a:solidFill>
              </a:rPr>
              <a:t>Phone · tablet · workstation</a:t>
            </a:r>
          </a:p>
        </p:txBody>
      </p:sp>
      <p:sp>
        <p:nvSpPr>
          <p:cNvPr id="24" name="Shape 24"/>
          <p:cNvSpPr/>
          <p:nvPr/>
        </p:nvSpPr>
        <p:spPr>
          <a:xfrm>
            <a:off x="8255000" y="1778000"/>
            <a:ext cx="3429000" cy="261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622B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25" name="Shape 25"/>
          <p:cNvSpPr/>
          <p:nvPr/>
        </p:nvSpPr>
        <p:spPr>
          <a:xfrm>
            <a:off x="8458200" y="2717800"/>
            <a:ext cx="30226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1F2933"/>
                </a:solidFill>
              </a:rPr>
              <a:t>30–90 sec</a:t>
            </a:r>
          </a:p>
          <a:p>
            <a:pPr algn="ctr">
              <a:lnSpc>
                <a:spcPct val="95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5B6670"/>
                </a:solidFill>
              </a:rPr>
              <a:t>Clear answer that cites the approved procedure</a:t>
            </a:r>
          </a:p>
        </p:txBody>
      </p:sp>
      <p:sp>
        <p:nvSpPr>
          <p:cNvPr id="26" name="Shape 26"/>
          <p:cNvSpPr/>
          <p:nvPr/>
        </p:nvSpPr>
        <p:spPr>
          <a:xfrm>
            <a:off x="508000" y="4622800"/>
            <a:ext cx="3572933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27" name="Shape 27"/>
          <p:cNvSpPr/>
          <p:nvPr/>
        </p:nvSpPr>
        <p:spPr>
          <a:xfrm>
            <a:off x="508000" y="4622800"/>
            <a:ext cx="3572933" cy="50800"/>
          </a:xfrm>
          <a:prstGeom prst="rect">
            <a:avLst/>
          </a:prstGeom>
          <a:solidFill>
            <a:srgbClr val="D9622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28" name="Shape 28"/>
          <p:cNvSpPr/>
          <p:nvPr/>
        </p:nvSpPr>
        <p:spPr>
          <a:xfrm>
            <a:off x="508000" y="4724400"/>
            <a:ext cx="3572933" cy="1270000"/>
          </a:xfrm>
          <a:prstGeom prst="rect">
            <a:avLst/>
          </a:prstGeom>
          <a:noFill/>
          <a:ln>
            <a:noFill/>
          </a:ln>
        </p:spPr>
        <p:txBody>
          <a:bodyPr wrap="square" lIns="203200" tIns="76200" rIns="203200" bIns="10160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600" b="1" dirty="0">
                <a:solidFill>
                  <a:srgbClr val="B8501F"/>
                </a:solidFill>
                <a:latin typeface="+mj-lt"/>
              </a:rPr>
              <a:t>50%+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1F2933"/>
                </a:solidFill>
              </a:rPr>
              <a:t>target cut in time to find and verify answers</a:t>
            </a:r>
          </a:p>
        </p:txBody>
      </p:sp>
      <p:sp>
        <p:nvSpPr>
          <p:cNvPr id="29" name="Shape 29"/>
          <p:cNvSpPr/>
          <p:nvPr/>
        </p:nvSpPr>
        <p:spPr>
          <a:xfrm>
            <a:off x="4309533" y="4622800"/>
            <a:ext cx="3572933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0" name="Shape 30"/>
          <p:cNvSpPr/>
          <p:nvPr/>
        </p:nvSpPr>
        <p:spPr>
          <a:xfrm>
            <a:off x="4309533" y="4622800"/>
            <a:ext cx="3572933" cy="50800"/>
          </a:xfrm>
          <a:prstGeom prst="rect">
            <a:avLst/>
          </a:prstGeom>
          <a:solidFill>
            <a:srgbClr val="D9622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1" name="Shape 31"/>
          <p:cNvSpPr/>
          <p:nvPr/>
        </p:nvSpPr>
        <p:spPr>
          <a:xfrm>
            <a:off x="4309533" y="4724400"/>
            <a:ext cx="3572933" cy="1270000"/>
          </a:xfrm>
          <a:prstGeom prst="rect">
            <a:avLst/>
          </a:prstGeom>
          <a:noFill/>
          <a:ln>
            <a:noFill/>
          </a:ln>
        </p:spPr>
        <p:txBody>
          <a:bodyPr wrap="square" lIns="203200" tIns="76200" rIns="203200" bIns="10160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600" b="1" dirty="0">
                <a:solidFill>
                  <a:srgbClr val="B8501F"/>
                </a:solidFill>
                <a:latin typeface="+mj-lt"/>
              </a:rPr>
              <a:t>10–12 min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1F2933"/>
                </a:solidFill>
              </a:rPr>
              <a:t>saved per question, illustrative</a:t>
            </a:r>
          </a:p>
        </p:txBody>
      </p:sp>
      <p:sp>
        <p:nvSpPr>
          <p:cNvPr id="32" name="Shape 32"/>
          <p:cNvSpPr/>
          <p:nvPr/>
        </p:nvSpPr>
        <p:spPr>
          <a:xfrm>
            <a:off x="8111067" y="4622800"/>
            <a:ext cx="3572933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3" name="Shape 33"/>
          <p:cNvSpPr/>
          <p:nvPr/>
        </p:nvSpPr>
        <p:spPr>
          <a:xfrm>
            <a:off x="8111067" y="4622800"/>
            <a:ext cx="3572933" cy="50800"/>
          </a:xfrm>
          <a:prstGeom prst="rect">
            <a:avLst/>
          </a:prstGeom>
          <a:solidFill>
            <a:srgbClr val="D9622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4" name="Shape 34"/>
          <p:cNvSpPr/>
          <p:nvPr/>
        </p:nvSpPr>
        <p:spPr>
          <a:xfrm>
            <a:off x="8111067" y="4724400"/>
            <a:ext cx="3572933" cy="1270000"/>
          </a:xfrm>
          <a:prstGeom prst="rect">
            <a:avLst/>
          </a:prstGeom>
          <a:noFill/>
          <a:ln>
            <a:noFill/>
          </a:ln>
        </p:spPr>
        <p:txBody>
          <a:bodyPr wrap="square" lIns="203200" tIns="76200" rIns="203200" bIns="10160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600" b="1" dirty="0">
                <a:solidFill>
                  <a:srgbClr val="B8501F"/>
                </a:solidFill>
                <a:latin typeface="+mj-lt"/>
              </a:rPr>
              <a:t>1 place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1F2933"/>
                </a:solidFill>
              </a:rPr>
              <a:t>for safety, maintenance and quality, with fewer expert interruptions</a:t>
            </a:r>
          </a:p>
        </p:txBody>
      </p:sp>
      <p:sp>
        <p:nvSpPr>
          <p:cNvPr id="35" name="Shape 35"/>
          <p:cNvSpPr/>
          <p:nvPr/>
        </p:nvSpPr>
        <p:spPr>
          <a:xfrm>
            <a:off x="508000" y="62484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rgbClr val="5B6670"/>
                </a:solidFill>
              </a:rPr>
              <a:t>Estimates, not measured results: assumes searches take 10–15 min today and 30–90 sec with AI. The pilot will measure answer accuracy, time to answer and supervisor adoption.</a:t>
            </a:r>
          </a:p>
        </p:txBody>
      </p:sp>
      <p:pic>
        <p:nvPicPr>
          <p:cNvPr id="36" name="Graphic 36" descr="Safe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968500"/>
            <a:ext cx="406400" cy="406400"/>
          </a:xfrm>
          <a:prstGeom prst="rect">
            <a:avLst/>
          </a:prstGeom>
        </p:spPr>
      </p:pic>
      <p:pic>
        <p:nvPicPr>
          <p:cNvPr id="37" name="Graphic 37" descr="Mainten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2882900"/>
            <a:ext cx="406400" cy="406400"/>
          </a:xfrm>
          <a:prstGeom prst="rect">
            <a:avLst/>
          </a:prstGeom>
        </p:spPr>
      </p:pic>
      <p:pic>
        <p:nvPicPr>
          <p:cNvPr id="38" name="Graphic 38" descr="Qua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3797300"/>
            <a:ext cx="406400" cy="406400"/>
          </a:xfrm>
          <a:prstGeom prst="rect">
            <a:avLst/>
          </a:prstGeom>
        </p:spPr>
      </p:pic>
      <p:pic>
        <p:nvPicPr>
          <p:cNvPr id="39" name="Graphic 39" descr="AI assistant cha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7400" y="1828800"/>
            <a:ext cx="457200" cy="457200"/>
          </a:xfrm>
          <a:prstGeom prst="rect">
            <a:avLst/>
          </a:prstGeom>
        </p:spPr>
      </p:pic>
      <p:pic>
        <p:nvPicPr>
          <p:cNvPr id="40" name="Graphic 40" descr="Fast answ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4700" y="2006600"/>
            <a:ext cx="609600" cy="609600"/>
          </a:xfrm>
          <a:prstGeom prst="rect">
            <a:avLst/>
          </a:prstGeom>
        </p:spPr>
      </p:pic>
      <p:sp>
        <p:nvSpPr>
          <p:cNvPr id="60" name="Guardrail 61"/>
          <p:cNvSpPr/>
          <p:nvPr/>
        </p:nvSpPr>
        <p:spPr>
          <a:xfrm>
            <a:off x="4953000" y="3225800"/>
            <a:ext cx="2286000" cy="12700"/>
          </a:xfrm>
          <a:prstGeom prst="roundRect">
            <a:avLst>
              <a:gd name="adj" fmla="val 8000"/>
            </a:avLst>
          </a:prstGeom>
          <a:solidFill>
            <a:srgbClr val="52606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 dirty="0"/>
          </a:p>
        </p:txBody>
      </p:sp>
      <p:sp>
        <p:nvSpPr>
          <p:cNvPr id="61" name="Guardrail 62"/>
          <p:cNvSpPr/>
          <p:nvPr/>
        </p:nvSpPr>
        <p:spPr>
          <a:xfrm>
            <a:off x="5308600" y="3352800"/>
            <a:ext cx="1930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Safety filters</a:t>
            </a:r>
          </a:p>
          <a:p>
            <a:pPr>
              <a:lnSpc>
                <a:spcPct val="90000"/>
              </a:lnSpc>
              <a:buNone/>
            </a:pPr>
            <a:r>
              <a:rPr lang="en-US" sz="1400" dirty="0">
                <a:solidFill>
                  <a:srgbClr val="CBD2D9"/>
                </a:solidFill>
              </a:rPr>
              <a:t>block harmful requests</a:t>
            </a:r>
          </a:p>
        </p:txBody>
      </p:sp>
      <p:sp>
        <p:nvSpPr>
          <p:cNvPr id="62" name="Guardrail 63"/>
          <p:cNvSpPr/>
          <p:nvPr/>
        </p:nvSpPr>
        <p:spPr>
          <a:xfrm>
            <a:off x="5308600" y="3835400"/>
            <a:ext cx="1930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Emergencies</a:t>
            </a:r>
          </a:p>
          <a:p>
            <a:pPr>
              <a:lnSpc>
                <a:spcPct val="90000"/>
              </a:lnSpc>
              <a:buNone/>
            </a:pPr>
            <a:r>
              <a:rPr lang="en-US" sz="1400" dirty="0">
                <a:solidFill>
                  <a:srgbClr val="CBD2D9"/>
                </a:solidFill>
              </a:rPr>
              <a:t>go to a plant operator</a:t>
            </a:r>
          </a:p>
        </p:txBody>
      </p:sp>
      <p:pic>
        <p:nvPicPr>
          <p:cNvPr id="63" name="Graphic 63" descr="Safety filt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78400" y="3429000"/>
            <a:ext cx="279400" cy="279400"/>
          </a:xfrm>
          <a:prstGeom prst="rect">
            <a:avLst/>
          </a:prstGeom>
        </p:spPr>
      </p:pic>
      <p:pic>
        <p:nvPicPr>
          <p:cNvPr id="64" name="Graphic 64" descr="Emergency escal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78400" y="39116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23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2947329011]">
  <a:themeElements>
    <a:clrScheme name="Office">
      <a:dk1>
        <a:srgbClr val="1F2933"/>
      </a:dk1>
      <a:lt1>
        <a:srgbClr val="FFFFFF"/>
      </a:lt1>
      <a:dk2>
        <a:srgbClr val="3E4C59"/>
      </a:dk2>
      <a:lt2>
        <a:srgbClr val="F7F6F3"/>
      </a:lt2>
      <a:accent1>
        <a:srgbClr val="D9622B"/>
      </a:accent1>
      <a:accent2>
        <a:srgbClr val="2F6F8F"/>
      </a:accent2>
      <a:accent3>
        <a:srgbClr val="7B8794"/>
      </a:accent3>
      <a:accent4>
        <a:srgbClr val="CBD2D9"/>
      </a:accent4>
      <a:accent5>
        <a:srgbClr val="E9A23B"/>
      </a:accent5>
      <a:accent6>
        <a:srgbClr val="52606D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D25B616-7DC4-CE4B-A7A8-CEAC9986729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0913a0b-437b-4826-97af-75b5ff0c8d4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170</Words>
  <Application>Microsoft Macintosh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Segoe UI</vt:lpstr>
      <vt:lpstr>Segoe UI Semibold</vt:lpstr>
      <vt:lpstr>Office Theme [1792947329011]</vt:lpstr>
      <vt:lpstr>PlantBrain</vt:lpstr>
      <vt:lpstr>Floor Supervisors get answers in 90 seconds, not 15 minutes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Sujay Kakkirala</dc:creator>
  <cp:lastModifiedBy>Sujay Kakkirala</cp:lastModifiedBy>
  <cp:revision>7</cp:revision>
  <dcterms:created xsi:type="dcterms:W3CDTF">2026-10-25T16:16:03Z</dcterms:created>
  <dcterms:modified xsi:type="dcterms:W3CDTF">2026-10-25T17:09:57Z</dcterms:modified>
</cp:coreProperties>
</file>